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7" r:id="rId6"/>
    <p:sldId id="260" r:id="rId7"/>
    <p:sldId id="268" r:id="rId8"/>
    <p:sldId id="269" r:id="rId9"/>
    <p:sldId id="270" r:id="rId10"/>
    <p:sldId id="264" r:id="rId11"/>
    <p:sldId id="274" r:id="rId12"/>
    <p:sldId id="266" r:id="rId13"/>
    <p:sldId id="272" r:id="rId14"/>
    <p:sldId id="271" r:id="rId15"/>
    <p:sldId id="273" r:id="rId16"/>
    <p:sldId id="276" r:id="rId17"/>
    <p:sldId id="277" r:id="rId18"/>
    <p:sldId id="278" r:id="rId19"/>
    <p:sldId id="279" r:id="rId20"/>
    <p:sldId id="280" r:id="rId21"/>
    <p:sldId id="281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890627-3225-4FD0-8225-3B560D805DEF}" type="datetimeFigureOut">
              <a:rPr lang="fr-FR" smtClean="0"/>
              <a:t>26/11/2025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2523F-2C94-4DCB-A64D-2D5F3D0C7A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8603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DE383BA-A532-48C9-A816-2C7FC7E59AE0}" type="datetime1">
              <a:rPr lang="fr-FR" smtClean="0"/>
              <a:t>26/11/2025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BF9C8B8-DB3E-4D1E-B9AD-440C4E7779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3191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A3277-2DD9-4113-B5B7-1D9561A540E4}" type="datetime1">
              <a:rPr lang="fr-FR" smtClean="0"/>
              <a:t>26/11/2025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0BF9C8B8-DB3E-4D1E-B9AD-440C4E7779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073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075F95C-0523-402A-BA86-B7A353CC0632}" type="datetime1">
              <a:rPr lang="fr-FR" smtClean="0"/>
              <a:t>26/11/2025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BF9C8B8-DB3E-4D1E-B9AD-440C4E7779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7670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7B89A-D587-4D77-B9B4-5CA926DFAE3F}" type="datetime1">
              <a:rPr lang="fr-FR" smtClean="0"/>
              <a:t>26/11/2025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C8B8-DB3E-4D1E-B9AD-440C4E7779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8882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52660-EFB2-4950-9348-97A7A260D93F}" type="datetime1">
              <a:rPr lang="fr-FR" smtClean="0"/>
              <a:t>26/11/2025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C8B8-DB3E-4D1E-B9AD-440C4E7779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0146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A09D-BC78-4A33-BF8E-3EC9B213C655}" type="datetime1">
              <a:rPr lang="fr-FR" smtClean="0"/>
              <a:t>26/11/2025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C8B8-DB3E-4D1E-B9AD-440C4E7779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8234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9835-56B4-4805-AE78-378D9F2ABA19}" type="datetime1">
              <a:rPr lang="fr-FR" smtClean="0"/>
              <a:t>26/11/2025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C8B8-DB3E-4D1E-B9AD-440C4E7779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322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B06E6B1-4209-4383-B3C3-4EE96FC0A409}" type="datetime1">
              <a:rPr lang="fr-FR" smtClean="0"/>
              <a:t>26/11/2025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BF9C8B8-DB3E-4D1E-B9AD-440C4E7779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4851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DB1E-FC70-45B8-890A-67D5B98799D4}" type="datetime1">
              <a:rPr lang="fr-FR" smtClean="0"/>
              <a:t>26/11/2025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C8B8-DB3E-4D1E-B9AD-440C4E7779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3115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53B83-C01A-4D6E-ADE6-01296B2ECE12}" type="datetime1">
              <a:rPr lang="fr-FR" smtClean="0"/>
              <a:t>26/11/2025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C8B8-DB3E-4D1E-B9AD-440C4E7779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275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DCCB5A9-6C49-4470-8ED6-F84E6D96C5C1}" type="datetime1">
              <a:rPr lang="fr-FR" smtClean="0"/>
              <a:t>26/11/2025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BF9C8B8-DB3E-4D1E-B9AD-440C4E7779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9949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3AE9CCA-D3B1-42BE-B77E-C8301E1444EC}" type="datetime1">
              <a:rPr lang="fr-FR" smtClean="0"/>
              <a:t>26/11/2025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0BF9C8B8-DB3E-4D1E-B9AD-440C4E777963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00750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BFE4B7-6367-84ED-70C3-4CF5B3B339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Volume Dial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44FC705-00DD-EAC3-92E9-90C67C0C45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Projet communication sans fils</a:t>
            </a:r>
          </a:p>
        </p:txBody>
      </p:sp>
      <p:pic>
        <p:nvPicPr>
          <p:cNvPr id="4" name="Picture 9" descr="UVSQ | Université Paris-Saclay | Aller à la page d'accueil">
            <a:extLst>
              <a:ext uri="{FF2B5EF4-FFF2-40B4-BE49-F238E27FC236}">
                <a16:creationId xmlns:a16="http://schemas.microsoft.com/office/drawing/2014/main" id="{A197A0E1-1A0F-658F-2405-C2A736C0F61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440" y="546409"/>
            <a:ext cx="4175760" cy="995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8" descr="Mecavenir">
            <a:extLst>
              <a:ext uri="{FF2B5EF4-FFF2-40B4-BE49-F238E27FC236}">
                <a16:creationId xmlns:a16="http://schemas.microsoft.com/office/drawing/2014/main" id="{0A117562-B99C-4B61-F1B3-91A445E472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5461" y="546408"/>
            <a:ext cx="2335348" cy="9958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7957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604FE4-04DB-A81E-055D-08151B112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17AE9D-AF12-448E-4BF5-B124961CD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57120"/>
            <a:ext cx="11029615" cy="4050319"/>
          </a:xfrm>
        </p:spPr>
        <p:txBody>
          <a:bodyPr>
            <a:normAutofit/>
          </a:bodyPr>
          <a:lstStyle/>
          <a:p>
            <a:r>
              <a:rPr lang="fr-FR" sz="2000" dirty="0"/>
              <a:t>Introduction</a:t>
            </a:r>
          </a:p>
          <a:p>
            <a:r>
              <a:rPr lang="fr-FR" sz="2000" dirty="0"/>
              <a:t>Principe de fonctionnement</a:t>
            </a:r>
          </a:p>
          <a:p>
            <a:r>
              <a:rPr lang="fr-FR" sz="2000" dirty="0"/>
              <a:t>Sous-systèmes</a:t>
            </a:r>
          </a:p>
          <a:p>
            <a:pPr marL="304800" lvl="1" indent="-304800"/>
            <a:r>
              <a:rPr lang="fr-FR" sz="1800" dirty="0"/>
              <a:t>PC</a:t>
            </a:r>
          </a:p>
          <a:p>
            <a:pPr marL="304800" lvl="1" indent="-304800"/>
            <a:r>
              <a:rPr lang="fr-FR" sz="1800" dirty="0"/>
              <a:t>Serveur</a:t>
            </a:r>
          </a:p>
          <a:p>
            <a:pPr marL="304800" lvl="1" indent="-304800"/>
            <a:r>
              <a:rPr lang="fr-FR" sz="1800" dirty="0"/>
              <a:t>Client</a:t>
            </a:r>
          </a:p>
          <a:p>
            <a:pPr marL="304800" lvl="1" indent="-304800"/>
            <a:r>
              <a:rPr lang="fr-FR" sz="1800" dirty="0"/>
              <a:t>Tab5M5</a:t>
            </a:r>
          </a:p>
          <a:p>
            <a:pPr marL="304800" lvl="1" indent="-304800"/>
            <a:r>
              <a:rPr lang="fr-FR" sz="1800" dirty="0"/>
              <a:t>Problèmes rencontrés et solutions</a:t>
            </a:r>
          </a:p>
          <a:p>
            <a:pPr marL="304800" lvl="1" indent="-304800"/>
            <a:r>
              <a:rPr lang="fr-FR" sz="1800" dirty="0"/>
              <a:t>Conclusion</a:t>
            </a:r>
          </a:p>
          <a:p>
            <a:pPr marL="0" lvl="1" indent="0">
              <a:buNone/>
            </a:pPr>
            <a:endParaRPr lang="fr-FR" sz="180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95159F5-95DA-6C14-F8EC-FC1ADFD29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C8B8-DB3E-4D1E-B9AD-440C4E777963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8396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EA7CF-627F-390F-5E6D-A6AB8D563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E25942-1564-1455-134B-AE27CC722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99FCE67-4803-630A-F6C6-5D60A35E4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C8B8-DB3E-4D1E-B9AD-440C4E777963}" type="slidenum">
              <a:rPr lang="fr-FR" smtClean="0"/>
              <a:t>3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73B7D37-DD7A-DD92-3EF2-4686DADE1CEA}"/>
              </a:ext>
            </a:extLst>
          </p:cNvPr>
          <p:cNvSpPr txBox="1"/>
          <p:nvPr/>
        </p:nvSpPr>
        <p:spPr>
          <a:xfrm>
            <a:off x="662472" y="2326640"/>
            <a:ext cx="6754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/>
              <a:t>Contrôle du volume PC avec encodeur magnétique et ESP32</a:t>
            </a:r>
          </a:p>
          <a:p>
            <a:pPr marL="285750" indent="-285750">
              <a:buFontTx/>
              <a:buChar char="-"/>
            </a:pPr>
            <a:r>
              <a:rPr lang="fr-FR" dirty="0"/>
              <a:t>créer un dispositif matériel intuitif et réactif pour gérer le volume. </a:t>
            </a:r>
          </a:p>
          <a:p>
            <a:pPr marL="285750" indent="-285750">
              <a:buFontTx/>
              <a:buChar char="-"/>
            </a:pP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A6700AF-F3D7-D038-A073-856D4B19F4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55" t="20000" r="10493" b="30074"/>
          <a:stretch>
            <a:fillRect/>
          </a:stretch>
        </p:blipFill>
        <p:spPr>
          <a:xfrm>
            <a:off x="7416800" y="3068320"/>
            <a:ext cx="3901440" cy="3423920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F445BA30-81FD-905C-BC60-97E46DB01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472" y="3650457"/>
            <a:ext cx="443992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Contrôle physique et intuitif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Communication sans fil entre modules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Affichage du volume en temps réel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Compatible avec tout PC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dirty="0">
                <a:latin typeface="Arial" panose="020B0604020202020204" pitchFamily="34" charset="0"/>
              </a:rPr>
              <a:t>Modularité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603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A02A6-A1BD-B576-4E56-BA7C6C22D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8A096D-8CE5-11CD-3B81-22F88C2DE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Principe de fonctionnement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A2D6F6F-C510-C24B-76C5-D97FCD925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159" y="2445045"/>
            <a:ext cx="6866866" cy="2388870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1827A8-6BFF-94B1-3CDB-204FCBFBD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C8B8-DB3E-4D1E-B9AD-440C4E777963}" type="slidenum">
              <a:rPr lang="fr-FR" smtClean="0"/>
              <a:t>4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178A0F8-F9A1-46C1-5944-E77BDA06FA26}"/>
              </a:ext>
            </a:extLst>
          </p:cNvPr>
          <p:cNvSpPr txBox="1"/>
          <p:nvPr/>
        </p:nvSpPr>
        <p:spPr>
          <a:xfrm>
            <a:off x="581192" y="2445045"/>
            <a:ext cx="26496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/>
              <a:t>Récupération et modification du volume</a:t>
            </a:r>
          </a:p>
          <a:p>
            <a:pPr marL="285750" indent="-285750">
              <a:buFontTx/>
              <a:buChar char="-"/>
            </a:pPr>
            <a:r>
              <a:rPr lang="fr-FR" dirty="0"/>
              <a:t>Passerelle</a:t>
            </a:r>
          </a:p>
          <a:p>
            <a:pPr marL="285750" indent="-285750">
              <a:buFontTx/>
              <a:buChar char="-"/>
            </a:pPr>
            <a:r>
              <a:rPr lang="fr-FR" dirty="0"/>
              <a:t>Affichage du volume</a:t>
            </a:r>
          </a:p>
          <a:p>
            <a:pPr marL="285750" indent="-285750">
              <a:buFontTx/>
              <a:buChar char="-"/>
            </a:pPr>
            <a:r>
              <a:rPr lang="fr-FR" dirty="0"/>
              <a:t>Lecture du capteur</a:t>
            </a:r>
          </a:p>
        </p:txBody>
      </p:sp>
    </p:spTree>
    <p:extLst>
      <p:ext uri="{BB962C8B-B14F-4D97-AF65-F5344CB8AC3E}">
        <p14:creationId xmlns:p14="http://schemas.microsoft.com/office/powerpoint/2010/main" val="1107859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94473-1E07-DF97-1DD6-5D2FE94E6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699377-C77D-140E-16B7-CC780E425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Sous-systèmes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A1700A2-D5C4-EC13-65F5-161E77490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2057257"/>
            <a:ext cx="4487060" cy="4260242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7DFF7D35-2429-9986-8AA2-DF22FCF1397B}"/>
              </a:ext>
            </a:extLst>
          </p:cNvPr>
          <p:cNvSpPr txBox="1"/>
          <p:nvPr/>
        </p:nvSpPr>
        <p:spPr>
          <a:xfrm>
            <a:off x="5354320" y="2489200"/>
            <a:ext cx="313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Sous-système 1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4605487-0730-C730-3D11-EFBE0B201F70}"/>
              </a:ext>
            </a:extLst>
          </p:cNvPr>
          <p:cNvSpPr txBox="1"/>
          <p:nvPr/>
        </p:nvSpPr>
        <p:spPr>
          <a:xfrm>
            <a:off x="5354320" y="3491607"/>
            <a:ext cx="313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Sous-système 2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F5A1A02-2489-2AC2-A951-0EE068203978}"/>
              </a:ext>
            </a:extLst>
          </p:cNvPr>
          <p:cNvSpPr txBox="1"/>
          <p:nvPr/>
        </p:nvSpPr>
        <p:spPr>
          <a:xfrm>
            <a:off x="5354320" y="4494014"/>
            <a:ext cx="313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Sous-système 3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40B60EF-33EB-3689-5AB0-A96D0A420A20}"/>
              </a:ext>
            </a:extLst>
          </p:cNvPr>
          <p:cNvSpPr txBox="1"/>
          <p:nvPr/>
        </p:nvSpPr>
        <p:spPr>
          <a:xfrm>
            <a:off x="5354320" y="5496421"/>
            <a:ext cx="313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Sous-système 4</a:t>
            </a:r>
          </a:p>
        </p:txBody>
      </p: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D95EBB98-BED4-60C5-A083-884630E04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C8B8-DB3E-4D1E-B9AD-440C4E777963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3868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5A50F-B579-F041-D75B-0F5B20FB1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498F9D-02EC-FC7D-AAD3-9462C2398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Sous-système 1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11C2B3C-E8E7-C205-A2A2-B23F7EDC65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3406"/>
          <a:stretch>
            <a:fillRect/>
          </a:stretch>
        </p:blipFill>
        <p:spPr>
          <a:xfrm>
            <a:off x="487680" y="2299732"/>
            <a:ext cx="4487060" cy="113298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16E69B7-1561-8C55-ACF7-5AA3F10A8514}"/>
              </a:ext>
            </a:extLst>
          </p:cNvPr>
          <p:cNvSpPr txBox="1"/>
          <p:nvPr/>
        </p:nvSpPr>
        <p:spPr>
          <a:xfrm>
            <a:off x="487680" y="1930400"/>
            <a:ext cx="313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Liaison PC et Serveur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F50C4466-F8F9-C36A-04BC-C6F2B5C69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3520265"/>
            <a:ext cx="3831800" cy="3186127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9A5A1A83-93D6-2DF2-857B-5AB542082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060" y="2542937"/>
            <a:ext cx="3831800" cy="3413200"/>
          </a:xfrm>
          <a:prstGeom prst="rect">
            <a:avLst/>
          </a:prstGeom>
        </p:spPr>
      </p:pic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53629725-1C73-E0D1-2F00-92620B39C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C8B8-DB3E-4D1E-B9AD-440C4E777963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9505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0A7CC-6C7A-056A-9B12-708CEAACD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F91576-26A5-0CD9-5A70-D8D3BFF25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Sous-système 2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AEC80CB-87A8-B91C-9C49-E70231670035}"/>
              </a:ext>
            </a:extLst>
          </p:cNvPr>
          <p:cNvSpPr txBox="1"/>
          <p:nvPr/>
        </p:nvSpPr>
        <p:spPr>
          <a:xfrm>
            <a:off x="487680" y="1930400"/>
            <a:ext cx="313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Liaison Serveur et Tab5M5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5F43B05-5F58-7D88-A79D-AF6C6C15FD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310" b="48893"/>
          <a:stretch>
            <a:fillRect/>
          </a:stretch>
        </p:blipFill>
        <p:spPr>
          <a:xfrm>
            <a:off x="487680" y="2299732"/>
            <a:ext cx="4487060" cy="1013800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76B04E4-17EA-485E-B792-B69836E6E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C8B8-DB3E-4D1E-B9AD-440C4E777963}" type="slidenum">
              <a:rPr lang="fr-FR" smtClean="0"/>
              <a:t>7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B4E0201-775A-62E1-251A-428AAE77E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3562583"/>
            <a:ext cx="2453853" cy="275867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5E28248-08E8-EF34-2688-D62B2FCA4E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9818" y="2299732"/>
            <a:ext cx="1855685" cy="4003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365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9B0A6-97C2-7DF1-B148-840EEAC47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9ACFCC-CAD4-50C1-6761-40909DB49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Sous-système 3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A22D423-A5D7-0434-00D1-2E63784A21B1}"/>
              </a:ext>
            </a:extLst>
          </p:cNvPr>
          <p:cNvSpPr txBox="1"/>
          <p:nvPr/>
        </p:nvSpPr>
        <p:spPr>
          <a:xfrm>
            <a:off x="487680" y="1930400"/>
            <a:ext cx="313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Liaison Serveur et Client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50D47AF-3F47-60C0-15C3-C6B0340331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236" b="25967"/>
          <a:stretch>
            <a:fillRect/>
          </a:stretch>
        </p:blipFill>
        <p:spPr>
          <a:xfrm>
            <a:off x="487680" y="2299732"/>
            <a:ext cx="4487060" cy="1013800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7D3F319-E024-47C3-3735-AAD5D10C6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C8B8-DB3E-4D1E-B9AD-440C4E777963}" type="slidenum">
              <a:rPr lang="fr-FR" smtClean="0"/>
              <a:t>8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F770CAA-A4FC-23CC-6A10-EAA1E793A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451" y="2299732"/>
            <a:ext cx="1828869" cy="382479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C9D845B5-0CD4-4F51-4EC2-E91E7B0E61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700" y="2299732"/>
            <a:ext cx="2206060" cy="3262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695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AE502-EF35-6893-6861-F5B27CA72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720FA2-89AB-C993-EC3D-587744620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Sous-système 4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CF16043-3840-18C2-8FF2-776D92D8D8DF}"/>
              </a:ext>
            </a:extLst>
          </p:cNvPr>
          <p:cNvSpPr txBox="1"/>
          <p:nvPr/>
        </p:nvSpPr>
        <p:spPr>
          <a:xfrm>
            <a:off x="487680" y="1930400"/>
            <a:ext cx="313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Liaison Client et Capteur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DE4EACC-ABDD-08A3-A264-F04B07CA9A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867"/>
          <a:stretch>
            <a:fillRect/>
          </a:stretch>
        </p:blipFill>
        <p:spPr>
          <a:xfrm>
            <a:off x="487680" y="2299732"/>
            <a:ext cx="4487060" cy="1155938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62ECBB6-E2A1-9AFE-4822-B8E1E285F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C8B8-DB3E-4D1E-B9AD-440C4E777963}" type="slidenum">
              <a:rPr lang="fr-FR" smtClean="0"/>
              <a:t>9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422D30B-F16F-D5CD-B36D-5DF756F3F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03" y="2299732"/>
            <a:ext cx="2406092" cy="3318748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FA29606-11EA-87E0-C7BB-B31D0F5F76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9706" y="2299732"/>
            <a:ext cx="2324171" cy="331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315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9FADB-8326-1F92-C36E-1F8CD2C22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E7211A-5E91-23EF-B80B-5FC846DF6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PC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8138581-1F1D-F9AF-B403-12C062324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C8B8-DB3E-4D1E-B9AD-440C4E777963}" type="slidenum">
              <a:rPr lang="fr-FR" smtClean="0"/>
              <a:t>10</a:t>
            </a:fld>
            <a:endParaRPr lang="fr-FR"/>
          </a:p>
        </p:txBody>
      </p:sp>
      <p:pic>
        <p:nvPicPr>
          <p:cNvPr id="1026" name="Picture 2" descr="PC portable Altyk 14&quot; – Performant, compact et livré en 24h.">
            <a:extLst>
              <a:ext uri="{FF2B5EF4-FFF2-40B4-BE49-F238E27FC236}">
                <a16:creationId xmlns:a16="http://schemas.microsoft.com/office/drawing/2014/main" id="{F37A4070-F68F-65CF-89E1-B3A42ED57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6160" y="2115066"/>
            <a:ext cx="5862320" cy="366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7876C749-5954-97E8-454E-8201FE9CCB21}"/>
              </a:ext>
            </a:extLst>
          </p:cNvPr>
          <p:cNvSpPr txBox="1"/>
          <p:nvPr/>
        </p:nvSpPr>
        <p:spPr>
          <a:xfrm>
            <a:off x="223520" y="2877840"/>
            <a:ext cx="68884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2400" dirty="0"/>
              <a:t>Chercher les port série</a:t>
            </a:r>
          </a:p>
          <a:p>
            <a:pPr marL="285750" indent="-285750">
              <a:buFontTx/>
              <a:buChar char="-"/>
            </a:pPr>
            <a:r>
              <a:rPr lang="fr-FR" sz="2400" dirty="0"/>
              <a:t>Détecté la signature du serveur</a:t>
            </a:r>
          </a:p>
          <a:p>
            <a:pPr marL="285750" indent="-285750">
              <a:buFontTx/>
              <a:buChar char="-"/>
            </a:pPr>
            <a:r>
              <a:rPr lang="fr-FR" sz="2400" dirty="0"/>
              <a:t>Initialiser le volume</a:t>
            </a:r>
          </a:p>
          <a:p>
            <a:pPr marL="285750" indent="-285750">
              <a:buFontTx/>
              <a:buChar char="-"/>
            </a:pPr>
            <a:r>
              <a:rPr lang="fr-FR" sz="2400" dirty="0"/>
              <a:t>Boucle de réception et transmission du volume</a:t>
            </a:r>
          </a:p>
          <a:p>
            <a:pPr marL="285750" indent="-285750">
              <a:buFontTx/>
              <a:buChar char="-"/>
            </a:pPr>
            <a:r>
              <a:rPr lang="fr-FR" sz="2400" dirty="0"/>
              <a:t>Boucle de récupération et modification du volume</a:t>
            </a:r>
          </a:p>
        </p:txBody>
      </p:sp>
    </p:spTree>
    <p:extLst>
      <p:ext uri="{BB962C8B-B14F-4D97-AF65-F5344CB8AC3E}">
        <p14:creationId xmlns:p14="http://schemas.microsoft.com/office/powerpoint/2010/main" val="814956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CDF7C-E90D-C900-2D7A-E0E574A7C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84C808-CDBD-8B89-439E-197F2B2D7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Serveur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A33DA93-0214-7297-5804-8CE5C3744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C8B8-DB3E-4D1E-B9AD-440C4E777963}" type="slidenum">
              <a:rPr lang="fr-FR" smtClean="0"/>
              <a:t>11</a:t>
            </a:fld>
            <a:endParaRPr lang="fr-FR"/>
          </a:p>
        </p:txBody>
      </p:sp>
      <p:pic>
        <p:nvPicPr>
          <p:cNvPr id="2050" name="Picture 2" descr="ESP-32 Dev Kit C V4">
            <a:extLst>
              <a:ext uri="{FF2B5EF4-FFF2-40B4-BE49-F238E27FC236}">
                <a16:creationId xmlns:a16="http://schemas.microsoft.com/office/drawing/2014/main" id="{3DF1130A-EA8B-AF58-1788-92883658D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0" y="2527137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ED772071-F568-DF95-4A3F-611612D7B910}"/>
              </a:ext>
            </a:extLst>
          </p:cNvPr>
          <p:cNvSpPr txBox="1"/>
          <p:nvPr/>
        </p:nvSpPr>
        <p:spPr>
          <a:xfrm>
            <a:off x="4722328" y="2866550"/>
            <a:ext cx="68884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2400" dirty="0"/>
              <a:t>Boucle d’envoie de la signature</a:t>
            </a:r>
          </a:p>
          <a:p>
            <a:pPr marL="285750" indent="-285750">
              <a:buFontTx/>
              <a:buChar char="-"/>
            </a:pPr>
            <a:r>
              <a:rPr lang="fr-FR" sz="2400" dirty="0"/>
              <a:t>Initialisation du </a:t>
            </a:r>
            <a:r>
              <a:rPr lang="fr-FR" sz="2400" dirty="0" err="1"/>
              <a:t>WiFi</a:t>
            </a:r>
            <a:endParaRPr lang="fr-FR" sz="2400" dirty="0"/>
          </a:p>
          <a:p>
            <a:pPr marL="285750" indent="-285750">
              <a:buFontTx/>
              <a:buChar char="-"/>
            </a:pPr>
            <a:r>
              <a:rPr lang="fr-FR" sz="2400" dirty="0"/>
              <a:t>Réception et transmission des données vers PC et Client</a:t>
            </a:r>
          </a:p>
        </p:txBody>
      </p:sp>
    </p:spTree>
    <p:extLst>
      <p:ext uri="{BB962C8B-B14F-4D97-AF65-F5344CB8AC3E}">
        <p14:creationId xmlns:p14="http://schemas.microsoft.com/office/powerpoint/2010/main" val="3180223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1D291-C414-5228-1EF6-56841DA9B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703E8B-B818-25F6-CD76-52517A5C0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Client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465E111-1150-D3A6-2815-12FDBD8A5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C8B8-DB3E-4D1E-B9AD-440C4E777963}" type="slidenum">
              <a:rPr lang="fr-FR" smtClean="0"/>
              <a:t>12</a:t>
            </a:fld>
            <a:endParaRPr lang="fr-FR"/>
          </a:p>
        </p:txBody>
      </p:sp>
      <p:pic>
        <p:nvPicPr>
          <p:cNvPr id="3" name="Picture 2" descr="ESP-32 Dev Kit C V4">
            <a:extLst>
              <a:ext uri="{FF2B5EF4-FFF2-40B4-BE49-F238E27FC236}">
                <a16:creationId xmlns:a16="http://schemas.microsoft.com/office/drawing/2014/main" id="{76557E01-4A8D-400D-F74A-7219D6901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9300" y="2709699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85E61153-D6A6-B232-2F01-8480AB3081C8}"/>
              </a:ext>
            </a:extLst>
          </p:cNvPr>
          <p:cNvSpPr txBox="1"/>
          <p:nvPr/>
        </p:nvSpPr>
        <p:spPr>
          <a:xfrm>
            <a:off x="424648" y="3181510"/>
            <a:ext cx="68884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2400" dirty="0"/>
              <a:t>Initialisation du </a:t>
            </a:r>
            <a:r>
              <a:rPr lang="fr-FR" sz="2400" dirty="0" err="1"/>
              <a:t>WiFi</a:t>
            </a:r>
            <a:endParaRPr lang="fr-FR" sz="2400" dirty="0"/>
          </a:p>
          <a:p>
            <a:pPr marL="285750" indent="-285750">
              <a:buFontTx/>
              <a:buChar char="-"/>
            </a:pPr>
            <a:r>
              <a:rPr lang="fr-FR" sz="2400" dirty="0"/>
              <a:t>Initialisation I2C</a:t>
            </a:r>
          </a:p>
          <a:p>
            <a:pPr marL="285750" indent="-285750">
              <a:buFontTx/>
              <a:buChar char="-"/>
            </a:pPr>
            <a:r>
              <a:rPr lang="fr-FR" sz="2400" dirty="0"/>
              <a:t>Connexion au serveur</a:t>
            </a:r>
          </a:p>
          <a:p>
            <a:pPr marL="285750" indent="-285750">
              <a:buFontTx/>
              <a:buChar char="-"/>
            </a:pPr>
            <a:r>
              <a:rPr lang="fr-FR" sz="2400" dirty="0"/>
              <a:t>Réception des données du capteur</a:t>
            </a:r>
          </a:p>
          <a:p>
            <a:pPr marL="285750" indent="-285750">
              <a:buFontTx/>
              <a:buChar char="-"/>
            </a:pPr>
            <a:r>
              <a:rPr lang="fr-FR" sz="2400" dirty="0"/>
              <a:t>Gestion de l’angle en volume</a:t>
            </a:r>
          </a:p>
          <a:p>
            <a:pPr marL="285750" indent="-285750">
              <a:buFontTx/>
              <a:buChar char="-"/>
            </a:pPr>
            <a:r>
              <a:rPr lang="fr-FR" sz="2400" dirty="0"/>
              <a:t>Transmission et réception des données</a:t>
            </a:r>
          </a:p>
        </p:txBody>
      </p:sp>
    </p:spTree>
    <p:extLst>
      <p:ext uri="{BB962C8B-B14F-4D97-AF65-F5344CB8AC3E}">
        <p14:creationId xmlns:p14="http://schemas.microsoft.com/office/powerpoint/2010/main" val="3079884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5FF99-E07B-4F61-EC9D-06EE87473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428CF3-2A10-3EEE-276D-D81A0214D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Tab5m5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A43C300-EA0D-C885-34FE-8E22B41B5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C8B8-DB3E-4D1E-B9AD-440C4E777963}" type="slidenum">
              <a:rPr lang="fr-FR" smtClean="0"/>
              <a:t>13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A857A95-D25C-E235-9F3F-11D89B8AF9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3" t="26519" r="7728" b="35555"/>
          <a:stretch>
            <a:fillRect/>
          </a:stretch>
        </p:blipFill>
        <p:spPr>
          <a:xfrm>
            <a:off x="581192" y="2546888"/>
            <a:ext cx="5267093" cy="2969991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570378A8-1362-0D2D-FA7B-D595C039726D}"/>
              </a:ext>
            </a:extLst>
          </p:cNvPr>
          <p:cNvSpPr txBox="1"/>
          <p:nvPr/>
        </p:nvSpPr>
        <p:spPr>
          <a:xfrm>
            <a:off x="6096000" y="2754790"/>
            <a:ext cx="36880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2400" dirty="0"/>
              <a:t>Initialisation du </a:t>
            </a:r>
            <a:r>
              <a:rPr lang="fr-FR" sz="2400" dirty="0" err="1"/>
              <a:t>WiFi</a:t>
            </a:r>
            <a:endParaRPr lang="fr-FR" sz="2400" dirty="0"/>
          </a:p>
          <a:p>
            <a:pPr marL="285750" indent="-285750">
              <a:buFontTx/>
              <a:buChar char="-"/>
            </a:pPr>
            <a:r>
              <a:rPr lang="fr-FR" sz="2400" dirty="0"/>
              <a:t>Connexion au serveur</a:t>
            </a:r>
          </a:p>
          <a:p>
            <a:pPr marL="285750" indent="-285750">
              <a:buFontTx/>
              <a:buChar char="-"/>
            </a:pPr>
            <a:r>
              <a:rPr lang="fr-FR" sz="2400" dirty="0"/>
              <a:t>Réception du volume</a:t>
            </a:r>
          </a:p>
          <a:p>
            <a:pPr marL="285750" indent="-285750">
              <a:buFontTx/>
              <a:buChar char="-"/>
            </a:pPr>
            <a:r>
              <a:rPr lang="fr-FR" sz="2400" dirty="0"/>
              <a:t>Affichage du volume</a:t>
            </a:r>
          </a:p>
        </p:txBody>
      </p:sp>
    </p:spTree>
    <p:extLst>
      <p:ext uri="{BB962C8B-B14F-4D97-AF65-F5344CB8AC3E}">
        <p14:creationId xmlns:p14="http://schemas.microsoft.com/office/powerpoint/2010/main" val="3549245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C4C3F-A801-4052-B687-1EAF5F17F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B5E950-E5C1-A08B-B7DE-199B05F2D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Problèmes rencontrés et solutions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4F6FE8-B89B-BC3F-DE4C-AEC3C39B0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C8B8-DB3E-4D1E-B9AD-440C4E777963}" type="slidenum">
              <a:rPr lang="fr-FR" smtClean="0"/>
              <a:t>14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D57DD95-C85D-347C-5235-1ED82F8F688F}"/>
              </a:ext>
            </a:extLst>
          </p:cNvPr>
          <p:cNvSpPr txBox="1"/>
          <p:nvPr/>
        </p:nvSpPr>
        <p:spPr>
          <a:xfrm>
            <a:off x="670560" y="2194560"/>
            <a:ext cx="4338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/>
              <a:t>Valeurs récupérées du capteur instable</a:t>
            </a:r>
          </a:p>
          <a:p>
            <a:pPr marL="285750" indent="-285750">
              <a:buFontTx/>
              <a:buChar char="-"/>
            </a:pPr>
            <a:r>
              <a:rPr lang="fr-FR" dirty="0"/>
              <a:t>Réinitialisation automatique de la Tab5M5</a:t>
            </a:r>
          </a:p>
        </p:txBody>
      </p:sp>
      <p:pic>
        <p:nvPicPr>
          <p:cNvPr id="1026" name="Picture 2" descr="HALJIA AS5600 Encodeur magnétique avec capteur d'angle à induction  magnétique 12 bits haute précision avec aimant : Amazon.fr: Commerce,  Industrie et ...">
            <a:extLst>
              <a:ext uri="{FF2B5EF4-FFF2-40B4-BE49-F238E27FC236}">
                <a16:creationId xmlns:a16="http://schemas.microsoft.com/office/drawing/2014/main" id="{39E5CA91-3B67-27B1-15B7-D280EE447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92" y="3064982"/>
            <a:ext cx="3256280" cy="3256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350F02A7-50F0-3EDD-E6D9-781E011191F0}"/>
              </a:ext>
            </a:extLst>
          </p:cNvPr>
          <p:cNvSpPr/>
          <p:nvPr/>
        </p:nvSpPr>
        <p:spPr>
          <a:xfrm>
            <a:off x="2672080" y="4104640"/>
            <a:ext cx="375920" cy="36575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00B669E-79FD-B78D-4C73-C67D98E1A7EE}"/>
              </a:ext>
            </a:extLst>
          </p:cNvPr>
          <p:cNvSpPr txBox="1"/>
          <p:nvPr/>
        </p:nvSpPr>
        <p:spPr>
          <a:xfrm>
            <a:off x="3601720" y="3813997"/>
            <a:ext cx="2326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La pin DIR du capteur à connecter sur GND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BAD93D94-D45B-BE02-B7F7-AD065DF92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2" y="2241950"/>
            <a:ext cx="2530059" cy="1646063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3F00E8E7-D302-FA5C-B6D8-A3DFD7C64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2" y="4053883"/>
            <a:ext cx="5186962" cy="1278477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D71C44DE-1E3E-5F50-C110-327344203404}"/>
              </a:ext>
            </a:extLst>
          </p:cNvPr>
          <p:cNvSpPr txBox="1"/>
          <p:nvPr/>
        </p:nvSpPr>
        <p:spPr>
          <a:xfrm>
            <a:off x="6096000" y="5509513"/>
            <a:ext cx="4462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Il faut définir les pins pour que le module </a:t>
            </a:r>
            <a:r>
              <a:rPr lang="fr-FR" dirty="0" err="1"/>
              <a:t>WiFi</a:t>
            </a:r>
            <a:r>
              <a:rPr lang="fr-FR" dirty="0"/>
              <a:t> interne communique correctement avec l’ESP32</a:t>
            </a:r>
          </a:p>
        </p:txBody>
      </p:sp>
    </p:spTree>
    <p:extLst>
      <p:ext uri="{BB962C8B-B14F-4D97-AF65-F5344CB8AC3E}">
        <p14:creationId xmlns:p14="http://schemas.microsoft.com/office/powerpoint/2010/main" val="3593265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3B98A-6F49-78F1-9F66-3065E928E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AB1EC4-65FF-44AD-5471-67E080576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F34CBA7-E6BF-7F5F-9EE9-0CA1CC7B3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C8B8-DB3E-4D1E-B9AD-440C4E777963}" type="slidenum">
              <a:rPr lang="fr-FR" smtClean="0"/>
              <a:t>15</a:t>
            </a:fld>
            <a:endParaRPr lang="fr-FR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0DAFC12-4674-0B2C-2C03-1E32A4EC9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92" y="2828835"/>
            <a:ext cx="443992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Projet fonctionnel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dirty="0">
                <a:latin typeface="Arial" panose="020B0604020202020204" pitchFamily="34" charset="0"/>
              </a:rPr>
              <a:t>Amélioration sur la partie liaison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dirty="0">
                <a:latin typeface="Arial" panose="020B0604020202020204" pitchFamily="34" charset="0"/>
              </a:rPr>
              <a:t>Amélioration gestion du volume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EA1F615-B9C1-3B1E-40B4-B5220F326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112" y="1983545"/>
            <a:ext cx="4595258" cy="449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740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B8F85-99E7-72CB-9FE6-FFE1F77BD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DA5966-E7FC-04DE-77DB-CABA1E3AB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PC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AAC466-E100-0BC8-814F-49B6A89A4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C8B8-DB3E-4D1E-B9AD-440C4E777963}" type="slidenum">
              <a:rPr lang="fr-FR" smtClean="0"/>
              <a:t>16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038D7AE-6C51-6CFC-211B-C9416B2CA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2449745"/>
            <a:ext cx="3862488" cy="205946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FEBD0D1-9002-45C4-9E28-AFCADFB9AC05}"/>
              </a:ext>
            </a:extLst>
          </p:cNvPr>
          <p:cNvSpPr txBox="1"/>
          <p:nvPr/>
        </p:nvSpPr>
        <p:spPr>
          <a:xfrm>
            <a:off x="581192" y="1979464"/>
            <a:ext cx="3940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Modification et récupération du volume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7599A82-BC05-B478-A0FD-0680AB2BF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593" y="2444665"/>
            <a:ext cx="4465707" cy="4023709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BD294F71-70A0-A0FD-77B0-522B71C8EE12}"/>
              </a:ext>
            </a:extLst>
          </p:cNvPr>
          <p:cNvSpPr txBox="1"/>
          <p:nvPr/>
        </p:nvSpPr>
        <p:spPr>
          <a:xfrm>
            <a:off x="6092593" y="1979464"/>
            <a:ext cx="3940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Transmission et réception du volume</a:t>
            </a:r>
          </a:p>
        </p:txBody>
      </p:sp>
    </p:spTree>
    <p:extLst>
      <p:ext uri="{BB962C8B-B14F-4D97-AF65-F5344CB8AC3E}">
        <p14:creationId xmlns:p14="http://schemas.microsoft.com/office/powerpoint/2010/main" val="719431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382EC-8B4E-5CB8-0F35-84DA7648D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EC41B1-3231-B521-8F7F-586F12C84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Serveur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48AF2AE-457F-3F28-DCA9-C897D8F3C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C8B8-DB3E-4D1E-B9AD-440C4E777963}" type="slidenum">
              <a:rPr lang="fr-FR" smtClean="0"/>
              <a:t>17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2CD5902-E22E-F4DE-0D9F-4AFA083B9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1" y="3511307"/>
            <a:ext cx="3122494" cy="163073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8897B26D-A853-3443-6C77-F46DAB75F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773" y="2500611"/>
            <a:ext cx="4756627" cy="3007474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D515D038-451F-777B-7C26-B76C6217BD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91" y="2500610"/>
            <a:ext cx="3296384" cy="557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5698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A1C9A-00FE-8559-48F6-A0B7751A9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E28E1B-E8DE-7E78-957D-D3DEE2206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Serveur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721B5C-FB8D-0A93-32E8-D4B01B020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C8B8-DB3E-4D1E-B9AD-440C4E777963}" type="slidenum">
              <a:rPr lang="fr-FR" smtClean="0"/>
              <a:t>18</a:t>
            </a:fld>
            <a:endParaRPr lang="fr-FR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C7F655F2-7FED-AE8E-6557-90BA71175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2261840"/>
            <a:ext cx="4596984" cy="2960400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248BFF8A-A05E-D6CE-4E8B-B3003917B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706" y="2076554"/>
            <a:ext cx="5616427" cy="424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375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2DCD8-448E-19C8-B042-F43678389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C294C3-3CA5-4C11-F7B7-4082394E2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Client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3BA06E6-F1BC-0446-4A55-0810F479D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C8B8-DB3E-4D1E-B9AD-440C4E777963}" type="slidenum">
              <a:rPr lang="fr-FR" smtClean="0"/>
              <a:t>19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4A5549C-D637-487A-C42E-648CA28D0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2018519"/>
            <a:ext cx="4021288" cy="3821024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0930BB0B-F50F-33BF-9864-A13580085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139" y="2296752"/>
            <a:ext cx="5885924" cy="226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224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F0A74-BCB1-4416-DBE7-A48CDBB82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C4619D-C6F2-B306-DAA9-842F12C3D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Client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C1586D0-67A8-5055-DE29-6D48BB8B2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C8B8-DB3E-4D1E-B9AD-440C4E777963}" type="slidenum">
              <a:rPr lang="fr-FR" smtClean="0"/>
              <a:t>20</a:t>
            </a:fld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A31F6C6-B14B-1100-2D36-938248E62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77" y="2114657"/>
            <a:ext cx="5578323" cy="420660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8D8BD44-7714-C7EE-F9CC-6EBA9E25C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574" y="2114657"/>
            <a:ext cx="4999153" cy="76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8607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B3F09-49F1-F984-B8EE-87BC92A5F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19D80F-4AF7-BEC3-B4B5-B3E54217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Tab5m5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3AB4B48-5D69-D215-70AE-C8BED993A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C8B8-DB3E-4D1E-B9AD-440C4E777963}" type="slidenum">
              <a:rPr lang="fr-FR" smtClean="0"/>
              <a:t>21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765A47E-8E45-71BB-4ED3-A22FCF8EC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064" y="2013521"/>
            <a:ext cx="7097044" cy="4307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87114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e">
  <a:themeElements>
    <a:clrScheme name="Dividende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e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TM03457464[[fn=Dividende]]</Template>
  <TotalTime>468</TotalTime>
  <Words>279</Words>
  <Application>Microsoft Office PowerPoint</Application>
  <PresentationFormat>Grand écran</PresentationFormat>
  <Paragraphs>97</Paragraphs>
  <Slides>21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6" baseType="lpstr">
      <vt:lpstr>Arial</vt:lpstr>
      <vt:lpstr>Calibri</vt:lpstr>
      <vt:lpstr>Gill Sans MT</vt:lpstr>
      <vt:lpstr>Wingdings 2</vt:lpstr>
      <vt:lpstr>Dividende</vt:lpstr>
      <vt:lpstr>Volume Dial</vt:lpstr>
      <vt:lpstr>Plan</vt:lpstr>
      <vt:lpstr>Introduction</vt:lpstr>
      <vt:lpstr>Principe de fonctionnement</vt:lpstr>
      <vt:lpstr>Sous-systèmes</vt:lpstr>
      <vt:lpstr>Sous-système 1</vt:lpstr>
      <vt:lpstr>Sous-système 2</vt:lpstr>
      <vt:lpstr>Sous-système 3</vt:lpstr>
      <vt:lpstr>Sous-système 4</vt:lpstr>
      <vt:lpstr>PC</vt:lpstr>
      <vt:lpstr>Serveur</vt:lpstr>
      <vt:lpstr>Client</vt:lpstr>
      <vt:lpstr>Tab5m5</vt:lpstr>
      <vt:lpstr>Problèmes rencontrés et solutions</vt:lpstr>
      <vt:lpstr>Conclusion</vt:lpstr>
      <vt:lpstr>PC</vt:lpstr>
      <vt:lpstr>Serveur</vt:lpstr>
      <vt:lpstr>Serveur</vt:lpstr>
      <vt:lpstr>Client</vt:lpstr>
      <vt:lpstr>Client</vt:lpstr>
      <vt:lpstr>Tab5m5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Adrien PETIT</dc:creator>
  <cp:lastModifiedBy>Adrien PETIT</cp:lastModifiedBy>
  <cp:revision>7</cp:revision>
  <dcterms:created xsi:type="dcterms:W3CDTF">2025-11-25T19:02:54Z</dcterms:created>
  <dcterms:modified xsi:type="dcterms:W3CDTF">2025-11-26T15:08:54Z</dcterms:modified>
</cp:coreProperties>
</file>